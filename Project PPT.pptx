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cac7f547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cac7f547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cac7f547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cac7f547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bb8ac6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bb8ac6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cac7f547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cac7f547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cac7f547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cac7f547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cac7f547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cac7f547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cac7f547b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cac7f547b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cac7f547b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cac7f547b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cac7f547b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8cac7f547b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cac7f547b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cac7f547b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cac7f547b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cac7f547b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cac7f547b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cac7f547b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cac7f547b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cac7f547b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cac7f547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cac7f547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b46dc2b40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b46dc2b40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b46dc2b40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b46dc2b4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cac7f547b_0_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8cac7f547b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40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Bank Customer Churn Analysis &amp; Retention Strategy</a:t>
            </a:r>
            <a:endParaRPr b="1" sz="34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9E9E9E"/>
                </a:solidFill>
              </a:rPr>
              <a:t>End-to-End Data Analytics Project using SQL &amp; Power BI</a:t>
            </a:r>
            <a:endParaRPr b="1">
              <a:solidFill>
                <a:srgbClr val="9E9E9E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25125" y="3783650"/>
            <a:ext cx="90807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9E9E9E"/>
                </a:solidFill>
              </a:rPr>
              <a:t>By - Rahul </a:t>
            </a:r>
            <a:endParaRPr sz="1000"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0" y="111300"/>
            <a:ext cx="8520600" cy="93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Objectives</a:t>
            </a:r>
            <a:endParaRPr b="1" sz="50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520800" y="1466450"/>
            <a:ext cx="7928700" cy="339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179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940"/>
              <a:buChar char="❏"/>
            </a:pPr>
            <a:r>
              <a:rPr lang="en-GB" sz="1940">
                <a:solidFill>
                  <a:srgbClr val="9E9E9E"/>
                </a:solidFill>
              </a:rPr>
              <a:t>Customer churn directly impacts a bank’s revenue and long-term growth. Understanding why customers leave and which customers are at risk is critical for designing effective retention strategies.</a:t>
            </a:r>
            <a:endParaRPr sz="1940">
              <a:solidFill>
                <a:srgbClr val="9E9E9E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0">
              <a:solidFill>
                <a:srgbClr val="9E9E9E"/>
              </a:solidFill>
            </a:endParaRPr>
          </a:p>
          <a:p>
            <a:pPr indent="-351789" lvl="0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940"/>
              <a:buChar char="❏"/>
            </a:pPr>
            <a:r>
              <a:rPr lang="en-GB" sz="1940">
                <a:solidFill>
                  <a:srgbClr val="9E9E9E"/>
                </a:solidFill>
              </a:rPr>
              <a:t>Measure overall and yearly churn</a:t>
            </a:r>
            <a:br>
              <a:rPr lang="en-GB" sz="1940">
                <a:solidFill>
                  <a:srgbClr val="9E9E9E"/>
                </a:solidFill>
              </a:rPr>
            </a:br>
            <a:endParaRPr sz="1940">
              <a:solidFill>
                <a:srgbClr val="9E9E9E"/>
              </a:solidFill>
            </a:endParaRPr>
          </a:p>
          <a:p>
            <a:pPr indent="-351789" lvl="0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940"/>
              <a:buChar char="❏"/>
            </a:pPr>
            <a:r>
              <a:rPr lang="en-GB" sz="1940">
                <a:solidFill>
                  <a:srgbClr val="9E9E9E"/>
                </a:solidFill>
              </a:rPr>
              <a:t>Identify key churn drivers</a:t>
            </a:r>
            <a:br>
              <a:rPr lang="en-GB" sz="1940">
                <a:solidFill>
                  <a:srgbClr val="9E9E9E"/>
                </a:solidFill>
              </a:rPr>
            </a:br>
            <a:endParaRPr sz="1940">
              <a:solidFill>
                <a:srgbClr val="9E9E9E"/>
              </a:solidFill>
            </a:endParaRPr>
          </a:p>
          <a:p>
            <a:pPr indent="-351789" lvl="0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940"/>
              <a:buChar char="❏"/>
            </a:pPr>
            <a:r>
              <a:rPr lang="en-GB" sz="1940">
                <a:solidFill>
                  <a:srgbClr val="9E9E9E"/>
                </a:solidFill>
              </a:rPr>
              <a:t>Segment customers based on behavior and demographics</a:t>
            </a:r>
            <a:br>
              <a:rPr lang="en-GB" sz="1940">
                <a:solidFill>
                  <a:srgbClr val="9E9E9E"/>
                </a:solidFill>
              </a:rPr>
            </a:br>
            <a:endParaRPr sz="1940">
              <a:solidFill>
                <a:srgbClr val="9E9E9E"/>
              </a:solidFill>
            </a:endParaRPr>
          </a:p>
          <a:p>
            <a:pPr indent="-351789" lvl="0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940"/>
              <a:buChar char="❏"/>
            </a:pPr>
            <a:r>
              <a:rPr lang="en-GB" sz="1940">
                <a:solidFill>
                  <a:srgbClr val="9E9E9E"/>
                </a:solidFill>
              </a:rPr>
              <a:t>Provide actionable insights to reduce churn</a:t>
            </a:r>
            <a:endParaRPr sz="1940"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609175" y="1290800"/>
            <a:ext cx="4063200" cy="360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83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10"/>
              <a:buChar char="❖"/>
            </a:pPr>
            <a:r>
              <a:rPr lang="en-GB" sz="1610">
                <a:solidFill>
                  <a:srgbClr val="9E9E9E"/>
                </a:solidFill>
              </a:rPr>
              <a:t>CustomerInfo</a:t>
            </a:r>
            <a:endParaRPr sz="1610">
              <a:solidFill>
                <a:srgbClr val="9E9E9E"/>
              </a:solidFill>
            </a:endParaRPr>
          </a:p>
          <a:p>
            <a:pPr indent="-33083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10"/>
              <a:buChar char="➢"/>
            </a:pPr>
            <a:r>
              <a:rPr lang="en-GB" sz="1610">
                <a:solidFill>
                  <a:srgbClr val="9E9E9E"/>
                </a:solidFill>
              </a:rPr>
              <a:t>Demographics </a:t>
            </a:r>
            <a:endParaRPr sz="1610">
              <a:solidFill>
                <a:srgbClr val="9E9E9E"/>
              </a:solidFill>
            </a:endParaRPr>
          </a:p>
          <a:p>
            <a:pPr indent="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10">
                <a:solidFill>
                  <a:srgbClr val="9E9E9E"/>
                </a:solidFill>
              </a:rPr>
              <a:t>Age, Gender, </a:t>
            </a:r>
            <a:r>
              <a:rPr lang="en-GB" sz="1610">
                <a:solidFill>
                  <a:srgbClr val="9E9E9E"/>
                </a:solidFill>
              </a:rPr>
              <a:t>G</a:t>
            </a:r>
            <a:r>
              <a:rPr lang="en-GB" sz="1610">
                <a:solidFill>
                  <a:srgbClr val="9E9E9E"/>
                </a:solidFill>
              </a:rPr>
              <a:t>eography)</a:t>
            </a:r>
            <a:endParaRPr sz="1610">
              <a:solidFill>
                <a:srgbClr val="9E9E9E"/>
              </a:solidFill>
            </a:endParaRPr>
          </a:p>
          <a:p>
            <a:pPr indent="-33083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10"/>
              <a:buChar char="➢"/>
            </a:pPr>
            <a:r>
              <a:rPr lang="en-GB" sz="1610">
                <a:solidFill>
                  <a:srgbClr val="9E9E9E"/>
                </a:solidFill>
              </a:rPr>
              <a:t>Estimated Salary</a:t>
            </a:r>
            <a:endParaRPr sz="1610">
              <a:solidFill>
                <a:srgbClr val="9E9E9E"/>
              </a:solidFill>
            </a:endParaRPr>
          </a:p>
          <a:p>
            <a:pPr indent="-33083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10"/>
              <a:buChar char="➢"/>
            </a:pPr>
            <a:r>
              <a:rPr lang="en-GB" sz="1610">
                <a:solidFill>
                  <a:srgbClr val="9E9E9E"/>
                </a:solidFill>
              </a:rPr>
              <a:t>Date of Joining</a:t>
            </a:r>
            <a:endParaRPr sz="1610">
              <a:solidFill>
                <a:srgbClr val="9E9E9E"/>
              </a:solidFill>
            </a:endParaRPr>
          </a:p>
          <a:p>
            <a:pPr indent="-33083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10"/>
              <a:buChar char="❖"/>
            </a:pPr>
            <a:r>
              <a:rPr lang="en-GB" sz="1610">
                <a:solidFill>
                  <a:srgbClr val="9E9E9E"/>
                </a:solidFill>
              </a:rPr>
              <a:t>Bank_Churn</a:t>
            </a:r>
            <a:endParaRPr sz="1610">
              <a:solidFill>
                <a:srgbClr val="9E9E9E"/>
              </a:solidFill>
            </a:endParaRPr>
          </a:p>
          <a:p>
            <a:pPr indent="-33083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10"/>
              <a:buChar char="➢"/>
            </a:pPr>
            <a:r>
              <a:rPr lang="en-GB" sz="1610">
                <a:solidFill>
                  <a:srgbClr val="9E9E9E"/>
                </a:solidFill>
              </a:rPr>
              <a:t>Credit Score, </a:t>
            </a:r>
            <a:endParaRPr sz="1610">
              <a:solidFill>
                <a:srgbClr val="9E9E9E"/>
              </a:solidFill>
            </a:endParaRPr>
          </a:p>
          <a:p>
            <a:pPr indent="-33083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10"/>
              <a:buChar char="➢"/>
            </a:pPr>
            <a:r>
              <a:rPr lang="en-GB" sz="1610">
                <a:solidFill>
                  <a:srgbClr val="9E9E9E"/>
                </a:solidFill>
              </a:rPr>
              <a:t>Balance, Products</a:t>
            </a:r>
            <a:endParaRPr sz="1610">
              <a:solidFill>
                <a:srgbClr val="9E9E9E"/>
              </a:solidFill>
            </a:endParaRPr>
          </a:p>
          <a:p>
            <a:pPr indent="-33083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10"/>
              <a:buChar char="➢"/>
            </a:pPr>
            <a:r>
              <a:rPr lang="en-GB" sz="1610">
                <a:solidFill>
                  <a:srgbClr val="9E9E9E"/>
                </a:solidFill>
              </a:rPr>
              <a:t>Activity Status</a:t>
            </a:r>
            <a:endParaRPr sz="1610">
              <a:solidFill>
                <a:srgbClr val="9E9E9E"/>
              </a:solidFill>
            </a:endParaRPr>
          </a:p>
          <a:p>
            <a:pPr indent="-33083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10"/>
              <a:buChar char="➢"/>
            </a:pPr>
            <a:r>
              <a:rPr lang="en-GB" sz="1610">
                <a:solidFill>
                  <a:srgbClr val="9E9E9E"/>
                </a:solidFill>
              </a:rPr>
              <a:t>Churn Indicator (Exited)</a:t>
            </a:r>
            <a:endParaRPr sz="1610">
              <a:solidFill>
                <a:srgbClr val="9E9E9E"/>
              </a:solidFill>
            </a:endParaRPr>
          </a:p>
        </p:txBody>
      </p:sp>
      <p:sp>
        <p:nvSpPr>
          <p:cNvPr id="68" name="Google Shape;68;p15"/>
          <p:cNvSpPr txBox="1"/>
          <p:nvPr>
            <p:ph type="ctrTitle"/>
          </p:nvPr>
        </p:nvSpPr>
        <p:spPr>
          <a:xfrm>
            <a:off x="311700" y="95175"/>
            <a:ext cx="8520600" cy="115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5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DATABASE OVERVIEW</a:t>
            </a:r>
            <a:endParaRPr b="1" sz="45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The Foundation for Change</a:t>
            </a:r>
            <a:endParaRPr b="1" sz="16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4889400" y="1290800"/>
            <a:ext cx="4063200" cy="374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83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10"/>
              <a:buChar char="❖"/>
            </a:pPr>
            <a:r>
              <a:rPr lang="en-GB" sz="1610">
                <a:solidFill>
                  <a:srgbClr val="9E9E9E"/>
                </a:solidFill>
              </a:rPr>
              <a:t>Gender</a:t>
            </a:r>
            <a:endParaRPr sz="1610">
              <a:solidFill>
                <a:srgbClr val="9E9E9E"/>
              </a:solidFill>
            </a:endParaRPr>
          </a:p>
          <a:p>
            <a:pPr indent="-33083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10"/>
              <a:buChar char="➢"/>
            </a:pPr>
            <a:r>
              <a:rPr lang="en-GB" sz="1610">
                <a:solidFill>
                  <a:srgbClr val="9E9E9E"/>
                </a:solidFill>
              </a:rPr>
              <a:t>GenderID and Gender </a:t>
            </a:r>
            <a:r>
              <a:rPr lang="en-GB" sz="1610">
                <a:solidFill>
                  <a:srgbClr val="9E9E9E"/>
                </a:solidFill>
              </a:rPr>
              <a:t>Category</a:t>
            </a:r>
            <a:endParaRPr sz="1610">
              <a:solidFill>
                <a:srgbClr val="9E9E9E"/>
              </a:solidFill>
            </a:endParaRPr>
          </a:p>
          <a:p>
            <a:pPr indent="-33083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10"/>
              <a:buChar char="❖"/>
            </a:pPr>
            <a:r>
              <a:rPr lang="en-GB" sz="1610">
                <a:solidFill>
                  <a:srgbClr val="9E9E9E"/>
                </a:solidFill>
              </a:rPr>
              <a:t>Active Customer </a:t>
            </a:r>
            <a:endParaRPr sz="1610">
              <a:solidFill>
                <a:srgbClr val="9E9E9E"/>
              </a:solidFill>
            </a:endParaRPr>
          </a:p>
          <a:p>
            <a:pPr indent="-33083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10"/>
              <a:buChar char="➢"/>
            </a:pPr>
            <a:r>
              <a:rPr lang="en-GB" sz="1610">
                <a:solidFill>
                  <a:srgbClr val="9E9E9E"/>
                </a:solidFill>
              </a:rPr>
              <a:t>ActiveID and Active Category</a:t>
            </a:r>
            <a:endParaRPr sz="1610">
              <a:solidFill>
                <a:srgbClr val="9E9E9E"/>
              </a:solidFill>
            </a:endParaRPr>
          </a:p>
          <a:p>
            <a:pPr indent="-33083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10"/>
              <a:buChar char="❖"/>
            </a:pPr>
            <a:r>
              <a:rPr lang="en-GB" sz="1610">
                <a:solidFill>
                  <a:srgbClr val="9E9E9E"/>
                </a:solidFill>
              </a:rPr>
              <a:t>Credit Card</a:t>
            </a:r>
            <a:endParaRPr sz="1610">
              <a:solidFill>
                <a:srgbClr val="9E9E9E"/>
              </a:solidFill>
            </a:endParaRPr>
          </a:p>
          <a:p>
            <a:pPr indent="-33083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10"/>
              <a:buChar char="➢"/>
            </a:pPr>
            <a:r>
              <a:rPr lang="en-GB" sz="1610">
                <a:solidFill>
                  <a:srgbClr val="9E9E9E"/>
                </a:solidFill>
              </a:rPr>
              <a:t>CreditID, </a:t>
            </a:r>
            <a:r>
              <a:rPr lang="en-GB" sz="1610">
                <a:solidFill>
                  <a:srgbClr val="9E9E9E"/>
                </a:solidFill>
              </a:rPr>
              <a:t>Category</a:t>
            </a:r>
            <a:endParaRPr sz="1610">
              <a:solidFill>
                <a:srgbClr val="9E9E9E"/>
              </a:solidFill>
            </a:endParaRPr>
          </a:p>
          <a:p>
            <a:pPr indent="-33083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10"/>
              <a:buChar char="❖"/>
            </a:pPr>
            <a:r>
              <a:rPr lang="en-GB" sz="1610">
                <a:solidFill>
                  <a:srgbClr val="9E9E9E"/>
                </a:solidFill>
              </a:rPr>
              <a:t>Exit Customer</a:t>
            </a:r>
            <a:endParaRPr sz="1610">
              <a:solidFill>
                <a:srgbClr val="9E9E9E"/>
              </a:solidFill>
            </a:endParaRPr>
          </a:p>
          <a:p>
            <a:pPr indent="-33083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10"/>
              <a:buChar char="➢"/>
            </a:pPr>
            <a:r>
              <a:rPr lang="en-GB" sz="1610">
                <a:solidFill>
                  <a:srgbClr val="9E9E9E"/>
                </a:solidFill>
              </a:rPr>
              <a:t>ExitID and Exit Category</a:t>
            </a:r>
            <a:endParaRPr sz="1610">
              <a:solidFill>
                <a:srgbClr val="9E9E9E"/>
              </a:solidFill>
            </a:endParaRPr>
          </a:p>
          <a:p>
            <a:pPr indent="-33083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10"/>
              <a:buChar char="❖"/>
            </a:pPr>
            <a:r>
              <a:rPr lang="en-GB" sz="1610">
                <a:solidFill>
                  <a:srgbClr val="9E9E9E"/>
                </a:solidFill>
              </a:rPr>
              <a:t>Geography</a:t>
            </a:r>
            <a:endParaRPr sz="1610">
              <a:solidFill>
                <a:srgbClr val="9E9E9E"/>
              </a:solidFill>
            </a:endParaRPr>
          </a:p>
          <a:p>
            <a:pPr indent="-33083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610"/>
              <a:buChar char="➢"/>
            </a:pPr>
            <a:r>
              <a:rPr lang="en-GB" sz="1610">
                <a:solidFill>
                  <a:srgbClr val="9E9E9E"/>
                </a:solidFill>
              </a:rPr>
              <a:t>GeoID and Location</a:t>
            </a:r>
            <a:endParaRPr sz="1610"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ctrTitle"/>
          </p:nvPr>
        </p:nvSpPr>
        <p:spPr>
          <a:xfrm>
            <a:off x="311700" y="95175"/>
            <a:ext cx="8520600" cy="115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5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DATABASE OVERVIEW</a:t>
            </a:r>
            <a:endParaRPr b="1" sz="45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Database Schema </a:t>
            </a:r>
            <a:endParaRPr b="1" sz="16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1125" y="1320425"/>
            <a:ext cx="6561751" cy="354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263225" y="165175"/>
            <a:ext cx="8520600" cy="103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 KEY ENGAGEMENT METRICS</a:t>
            </a:r>
            <a:endParaRPr b="1" sz="40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1081925" y="1466875"/>
            <a:ext cx="4615500" cy="309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❖"/>
            </a:pPr>
            <a:r>
              <a:rPr lang="en-GB" sz="1800">
                <a:solidFill>
                  <a:srgbClr val="9E9E9E"/>
                </a:solidFill>
              </a:rPr>
              <a:t>KPIs Monitored</a:t>
            </a:r>
            <a:endParaRPr sz="1800">
              <a:solidFill>
                <a:srgbClr val="9E9E9E"/>
              </a:solidFill>
            </a:endParaRPr>
          </a:p>
          <a:p>
            <a:pPr indent="-3429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➢"/>
            </a:pPr>
            <a:r>
              <a:rPr lang="en-GB" sz="1800">
                <a:solidFill>
                  <a:srgbClr val="9E9E9E"/>
                </a:solidFill>
              </a:rPr>
              <a:t>Total Customers</a:t>
            </a:r>
            <a:endParaRPr sz="1800">
              <a:solidFill>
                <a:srgbClr val="9E9E9E"/>
              </a:solidFill>
            </a:endParaRPr>
          </a:p>
          <a:p>
            <a:pPr indent="-3429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➢"/>
            </a:pPr>
            <a:r>
              <a:rPr lang="en-GB" sz="1800">
                <a:solidFill>
                  <a:srgbClr val="9E9E9E"/>
                </a:solidFill>
              </a:rPr>
              <a:t>Churned Customers</a:t>
            </a:r>
            <a:endParaRPr sz="1800">
              <a:solidFill>
                <a:srgbClr val="9E9E9E"/>
              </a:solidFill>
            </a:endParaRPr>
          </a:p>
          <a:p>
            <a:pPr indent="-3429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➢"/>
            </a:pPr>
            <a:r>
              <a:rPr lang="en-GB" sz="1800">
                <a:solidFill>
                  <a:srgbClr val="9E9E9E"/>
                </a:solidFill>
              </a:rPr>
              <a:t>Churn Rate (%)</a:t>
            </a:r>
            <a:endParaRPr sz="1800">
              <a:solidFill>
                <a:srgbClr val="9E9E9E"/>
              </a:solidFill>
            </a:endParaRPr>
          </a:p>
          <a:p>
            <a:pPr indent="-3429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➢"/>
            </a:pPr>
            <a:r>
              <a:rPr lang="en-GB" sz="1800">
                <a:solidFill>
                  <a:srgbClr val="9E9E9E"/>
                </a:solidFill>
              </a:rPr>
              <a:t>Active Customers</a:t>
            </a:r>
            <a:endParaRPr sz="1800">
              <a:solidFill>
                <a:srgbClr val="9E9E9E"/>
              </a:solidFill>
            </a:endParaRPr>
          </a:p>
          <a:p>
            <a:pPr indent="-3429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➢"/>
            </a:pPr>
            <a:r>
              <a:rPr lang="en-GB" sz="1800">
                <a:solidFill>
                  <a:srgbClr val="9E9E9E"/>
                </a:solidFill>
              </a:rPr>
              <a:t>Average Account Balance</a:t>
            </a:r>
            <a:endParaRPr sz="1800">
              <a:solidFill>
                <a:srgbClr val="9E9E9E"/>
              </a:solidFill>
            </a:endParaRPr>
          </a:p>
          <a:p>
            <a:pPr indent="-3429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➢"/>
            </a:pPr>
            <a:r>
              <a:rPr lang="en-GB" sz="1800">
                <a:solidFill>
                  <a:srgbClr val="9E9E9E"/>
                </a:solidFill>
              </a:rPr>
              <a:t>Average Number of Products</a:t>
            </a:r>
            <a:endParaRPr sz="1800"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0" y="127447"/>
            <a:ext cx="8520600" cy="9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endParaRPr b="1" sz="50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376325" y="889839"/>
            <a:ext cx="85206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9E9E9E"/>
                </a:solidFill>
              </a:rPr>
              <a:t>How Project is approached</a:t>
            </a:r>
            <a:endParaRPr sz="2000">
              <a:solidFill>
                <a:srgbClr val="9E9E9E"/>
              </a:solidFill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352878" y="1744796"/>
            <a:ext cx="2337900" cy="958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475" lIns="111475" spcFirstLastPara="1" rIns="111475" wrap="square" tIns="11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Data Understanding</a:t>
            </a:r>
            <a:endParaRPr sz="1706">
              <a:solidFill>
                <a:srgbClr val="9E9E9E"/>
              </a:solidFill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3490365" y="3777548"/>
            <a:ext cx="2337900" cy="958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475" lIns="111475" spcFirstLastPara="1" rIns="111475" wrap="square" tIns="11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6">
              <a:solidFill>
                <a:srgbClr val="1E272E"/>
              </a:solidFill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6623976" y="3777558"/>
            <a:ext cx="2337900" cy="958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475" lIns="111475" spcFirstLastPara="1" rIns="111475" wrap="square" tIns="11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6">
              <a:solidFill>
                <a:srgbClr val="1E272E"/>
              </a:solidFill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6620077" y="1744784"/>
            <a:ext cx="2337900" cy="958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475" lIns="111475" spcFirstLastPara="1" rIns="111475" wrap="square" tIns="11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6">
              <a:solidFill>
                <a:srgbClr val="1E272E"/>
              </a:solidFill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3486478" y="1744784"/>
            <a:ext cx="2337900" cy="958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475" lIns="111475" spcFirstLastPara="1" rIns="111475" wrap="square" tIns="11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6">
              <a:solidFill>
                <a:srgbClr val="1E272E"/>
              </a:solidFill>
            </a:endParaRPr>
          </a:p>
        </p:txBody>
      </p:sp>
      <p:cxnSp>
        <p:nvCxnSpPr>
          <p:cNvPr id="93" name="Google Shape;93;p18"/>
          <p:cNvCxnSpPr>
            <a:stCxn id="88" idx="3"/>
            <a:endCxn id="92" idx="1"/>
          </p:cNvCxnSpPr>
          <p:nvPr/>
        </p:nvCxnSpPr>
        <p:spPr>
          <a:xfrm>
            <a:off x="2690778" y="2224196"/>
            <a:ext cx="795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8"/>
          <p:cNvCxnSpPr/>
          <p:nvPr/>
        </p:nvCxnSpPr>
        <p:spPr>
          <a:xfrm>
            <a:off x="5824195" y="2224156"/>
            <a:ext cx="795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8"/>
          <p:cNvCxnSpPr>
            <a:stCxn id="90" idx="1"/>
            <a:endCxn id="89" idx="3"/>
          </p:cNvCxnSpPr>
          <p:nvPr/>
        </p:nvCxnSpPr>
        <p:spPr>
          <a:xfrm rot="10800000">
            <a:off x="5828376" y="4256958"/>
            <a:ext cx="795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8"/>
          <p:cNvCxnSpPr/>
          <p:nvPr/>
        </p:nvCxnSpPr>
        <p:spPr>
          <a:xfrm flipH="1" rot="-5400000">
            <a:off x="7298895" y="3227684"/>
            <a:ext cx="1054200" cy="6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" name="Google Shape;97;p18"/>
          <p:cNvSpPr txBox="1"/>
          <p:nvPr>
            <p:ph idx="1" type="subTitle"/>
          </p:nvPr>
        </p:nvSpPr>
        <p:spPr>
          <a:xfrm>
            <a:off x="3658454" y="2008881"/>
            <a:ext cx="19938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GB" sz="1650">
                <a:solidFill>
                  <a:srgbClr val="9E9E9E"/>
                </a:solidFill>
              </a:rPr>
              <a:t>Data Preparation</a:t>
            </a:r>
            <a:endParaRPr sz="1650">
              <a:solidFill>
                <a:srgbClr val="9E9E9E"/>
              </a:solidFill>
            </a:endParaRPr>
          </a:p>
        </p:txBody>
      </p:sp>
      <p:sp>
        <p:nvSpPr>
          <p:cNvPr id="98" name="Google Shape;98;p18"/>
          <p:cNvSpPr txBox="1"/>
          <p:nvPr>
            <p:ph idx="1" type="subTitle"/>
          </p:nvPr>
        </p:nvSpPr>
        <p:spPr>
          <a:xfrm>
            <a:off x="6834229" y="2002736"/>
            <a:ext cx="19938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GB" sz="1650">
                <a:solidFill>
                  <a:srgbClr val="9E9E9E"/>
                </a:solidFill>
              </a:rPr>
              <a:t>Metric Definition</a:t>
            </a:r>
            <a:endParaRPr sz="1650">
              <a:solidFill>
                <a:srgbClr val="9E9E9E"/>
              </a:solidFill>
            </a:endParaRPr>
          </a:p>
        </p:txBody>
      </p:sp>
      <p:sp>
        <p:nvSpPr>
          <p:cNvPr id="99" name="Google Shape;99;p18"/>
          <p:cNvSpPr txBox="1"/>
          <p:nvPr>
            <p:ph idx="1" type="subTitle"/>
          </p:nvPr>
        </p:nvSpPr>
        <p:spPr>
          <a:xfrm>
            <a:off x="3662535" y="4005955"/>
            <a:ext cx="19938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GB" sz="1650">
                <a:solidFill>
                  <a:srgbClr val="9E9E9E"/>
                </a:solidFill>
              </a:rPr>
              <a:t>Segmentation &amp; Insights</a:t>
            </a:r>
            <a:endParaRPr sz="1650">
              <a:solidFill>
                <a:srgbClr val="9E9E9E"/>
              </a:solidFill>
            </a:endParaRPr>
          </a:p>
        </p:txBody>
      </p:sp>
      <p:sp>
        <p:nvSpPr>
          <p:cNvPr id="100" name="Google Shape;100;p18"/>
          <p:cNvSpPr txBox="1"/>
          <p:nvPr>
            <p:ph idx="1" type="subTitle"/>
          </p:nvPr>
        </p:nvSpPr>
        <p:spPr>
          <a:xfrm>
            <a:off x="6796030" y="4024386"/>
            <a:ext cx="19938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GB" sz="1650">
                <a:solidFill>
                  <a:srgbClr val="9E9E9E"/>
                </a:solidFill>
              </a:rPr>
              <a:t>SQL and PowerBI Based Analysis</a:t>
            </a:r>
            <a:endParaRPr sz="1650">
              <a:solidFill>
                <a:srgbClr val="9E9E9E"/>
              </a:solidFill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382003" y="3785060"/>
            <a:ext cx="2337900" cy="958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475" lIns="111475" spcFirstLastPara="1" rIns="111475" wrap="square" tIns="11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6">
              <a:solidFill>
                <a:srgbClr val="1E272E"/>
              </a:solidFill>
            </a:endParaRPr>
          </a:p>
        </p:txBody>
      </p:sp>
      <p:cxnSp>
        <p:nvCxnSpPr>
          <p:cNvPr id="102" name="Google Shape;102;p18"/>
          <p:cNvCxnSpPr>
            <a:stCxn id="89" idx="1"/>
            <a:endCxn id="101" idx="3"/>
          </p:cNvCxnSpPr>
          <p:nvPr/>
        </p:nvCxnSpPr>
        <p:spPr>
          <a:xfrm flipH="1">
            <a:off x="2719965" y="4256948"/>
            <a:ext cx="770400" cy="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" name="Google Shape;103;p18"/>
          <p:cNvSpPr txBox="1"/>
          <p:nvPr>
            <p:ph idx="1" type="subTitle"/>
          </p:nvPr>
        </p:nvSpPr>
        <p:spPr>
          <a:xfrm>
            <a:off x="554173" y="4013467"/>
            <a:ext cx="19938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GB" sz="1650">
                <a:solidFill>
                  <a:srgbClr val="9E9E9E"/>
                </a:solidFill>
              </a:rPr>
              <a:t>Business Interpretation</a:t>
            </a:r>
            <a:endParaRPr sz="1650"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ctrTitle"/>
          </p:nvPr>
        </p:nvSpPr>
        <p:spPr>
          <a:xfrm>
            <a:off x="311700" y="163875"/>
            <a:ext cx="8520600" cy="14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OVERALL &amp; YEAR-WISE CHURN TREND</a:t>
            </a:r>
            <a:endParaRPr b="1" sz="30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9"/>
          <p:cNvSpPr txBox="1"/>
          <p:nvPr>
            <p:ph idx="1" type="subTitle"/>
          </p:nvPr>
        </p:nvSpPr>
        <p:spPr>
          <a:xfrm>
            <a:off x="237950" y="1482000"/>
            <a:ext cx="4621800" cy="35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040"/>
              <a:buChar char="★"/>
            </a:pPr>
            <a:r>
              <a:rPr lang="en-GB" sz="2040">
                <a:solidFill>
                  <a:srgbClr val="9E9E9E"/>
                </a:solidFill>
              </a:rPr>
              <a:t>What we observed</a:t>
            </a:r>
            <a:endParaRPr sz="2040">
              <a:solidFill>
                <a:srgbClr val="9E9E9E"/>
              </a:solidFill>
            </a:endParaRPr>
          </a:p>
          <a:p>
            <a:pPr indent="-35814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040"/>
              <a:buChar char="○"/>
            </a:pPr>
            <a:r>
              <a:rPr lang="en-GB" sz="2040">
                <a:solidFill>
                  <a:srgbClr val="9E9E9E"/>
                </a:solidFill>
              </a:rPr>
              <a:t>Churn varies across years</a:t>
            </a:r>
            <a:endParaRPr sz="2040">
              <a:solidFill>
                <a:srgbClr val="9E9E9E"/>
              </a:solidFill>
            </a:endParaRPr>
          </a:p>
          <a:p>
            <a:pPr indent="-35814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040"/>
              <a:buChar char="○"/>
            </a:pPr>
            <a:r>
              <a:rPr lang="en-GB" sz="2040">
                <a:solidFill>
                  <a:srgbClr val="9E9E9E"/>
                </a:solidFill>
              </a:rPr>
              <a:t>Certain customer cohorts show significantly higher churn</a:t>
            </a:r>
            <a:endParaRPr sz="2040">
              <a:solidFill>
                <a:srgbClr val="9E9E9E"/>
              </a:solidFill>
            </a:endParaRPr>
          </a:p>
          <a:p>
            <a:pPr indent="-35814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040"/>
              <a:buChar char="○"/>
            </a:pPr>
            <a:r>
              <a:rPr lang="en-GB" sz="2040">
                <a:solidFill>
                  <a:srgbClr val="9E9E9E"/>
                </a:solidFill>
              </a:rPr>
              <a:t>Indicates quality of acquisition and engagement varies over time</a:t>
            </a:r>
            <a:endParaRPr sz="2040">
              <a:solidFill>
                <a:srgbClr val="9E9E9E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40">
              <a:solidFill>
                <a:srgbClr val="9E9E9E"/>
              </a:solidFill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2150" y="2788225"/>
            <a:ext cx="3762375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0450" y="1718000"/>
            <a:ext cx="2245734" cy="85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ctrTitle"/>
          </p:nvPr>
        </p:nvSpPr>
        <p:spPr>
          <a:xfrm>
            <a:off x="311700" y="120850"/>
            <a:ext cx="8520600" cy="11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5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CHURN DRIVER ANALYSIS – TENURE</a:t>
            </a:r>
            <a:endParaRPr b="1" sz="30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0"/>
          <p:cNvSpPr txBox="1"/>
          <p:nvPr>
            <p:ph idx="1" type="subTitle"/>
          </p:nvPr>
        </p:nvSpPr>
        <p:spPr>
          <a:xfrm>
            <a:off x="237950" y="1380625"/>
            <a:ext cx="4334100" cy="357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54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40"/>
              <a:buChar char="★"/>
            </a:pPr>
            <a:r>
              <a:rPr lang="en-GB" sz="1840">
                <a:solidFill>
                  <a:srgbClr val="9E9E9E"/>
                </a:solidFill>
              </a:rPr>
              <a:t>Short-tenure(0-5 Years) customers churn at a much higher rate</a:t>
            </a:r>
            <a:endParaRPr sz="1840">
              <a:solidFill>
                <a:srgbClr val="9E9E9E"/>
              </a:solidFill>
            </a:endParaRPr>
          </a:p>
          <a:p>
            <a:pPr indent="-3454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40"/>
              <a:buChar char="★"/>
            </a:pPr>
            <a:r>
              <a:rPr lang="en-GB" sz="1840">
                <a:solidFill>
                  <a:srgbClr val="9E9E9E"/>
                </a:solidFill>
              </a:rPr>
              <a:t>Long-tenure customers show stronger loyalty</a:t>
            </a:r>
            <a:endParaRPr sz="1840">
              <a:solidFill>
                <a:srgbClr val="9E9E9E"/>
              </a:solidFill>
            </a:endParaRPr>
          </a:p>
          <a:p>
            <a:pPr indent="-3454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40"/>
              <a:buChar char="★"/>
            </a:pPr>
            <a:r>
              <a:rPr lang="en-GB" sz="1840">
                <a:solidFill>
                  <a:srgbClr val="9E9E9E"/>
                </a:solidFill>
              </a:rPr>
              <a:t>Early-stage customer engagement is critical to reduce churn.</a:t>
            </a:r>
            <a:endParaRPr sz="1840">
              <a:solidFill>
                <a:srgbClr val="9E9E9E"/>
              </a:solidFill>
            </a:endParaRPr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6925" y="2122801"/>
            <a:ext cx="4138200" cy="2323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ctrTitle"/>
          </p:nvPr>
        </p:nvSpPr>
        <p:spPr>
          <a:xfrm>
            <a:off x="311700" y="120850"/>
            <a:ext cx="8520600" cy="11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CHURN DRIVER ANALYSIS – PRODUCT USAGE</a:t>
            </a:r>
            <a:endParaRPr b="1" sz="30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21"/>
          <p:cNvSpPr txBox="1"/>
          <p:nvPr>
            <p:ph idx="1" type="subTitle"/>
          </p:nvPr>
        </p:nvSpPr>
        <p:spPr>
          <a:xfrm>
            <a:off x="237950" y="1380625"/>
            <a:ext cx="3988800" cy="357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54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40"/>
              <a:buChar char="★"/>
            </a:pPr>
            <a:r>
              <a:rPr lang="en-GB" sz="1840">
                <a:solidFill>
                  <a:srgbClr val="9E9E9E"/>
                </a:solidFill>
              </a:rPr>
              <a:t>Customers with 1 product show the highest churn</a:t>
            </a:r>
            <a:endParaRPr sz="1840">
              <a:solidFill>
                <a:srgbClr val="9E9E9E"/>
              </a:solidFill>
            </a:endParaRPr>
          </a:p>
          <a:p>
            <a:pPr indent="-3454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40"/>
              <a:buChar char="★"/>
            </a:pPr>
            <a:r>
              <a:rPr lang="en-GB" sz="1840">
                <a:solidFill>
                  <a:srgbClr val="9E9E9E"/>
                </a:solidFill>
              </a:rPr>
              <a:t>Churn decreases as the number of products increases</a:t>
            </a:r>
            <a:endParaRPr sz="1840">
              <a:solidFill>
                <a:srgbClr val="9E9E9E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0">
              <a:solidFill>
                <a:srgbClr val="9E9E9E"/>
              </a:solidFill>
            </a:endParaRPr>
          </a:p>
          <a:p>
            <a:pPr indent="-3454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40"/>
              <a:buChar char="★"/>
            </a:pPr>
            <a:r>
              <a:rPr lang="en-GB" sz="1840">
                <a:solidFill>
                  <a:srgbClr val="9E9E9E"/>
                </a:solidFill>
              </a:rPr>
              <a:t>Higher product adoption increases customer dependency and switching cost.</a:t>
            </a:r>
            <a:endParaRPr sz="1840">
              <a:solidFill>
                <a:srgbClr val="9E9E9E"/>
              </a:solidFill>
            </a:endParaRPr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4675" y="2039675"/>
            <a:ext cx="388620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ctrTitle"/>
          </p:nvPr>
        </p:nvSpPr>
        <p:spPr>
          <a:xfrm>
            <a:off x="311700" y="120850"/>
            <a:ext cx="8520600" cy="11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88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ACTIVITY STATUS &amp; CREDIT CARD IMPACT</a:t>
            </a:r>
            <a:endParaRPr b="1" sz="33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2"/>
          <p:cNvSpPr txBox="1"/>
          <p:nvPr>
            <p:ph idx="1" type="subTitle"/>
          </p:nvPr>
        </p:nvSpPr>
        <p:spPr>
          <a:xfrm>
            <a:off x="782350" y="1329150"/>
            <a:ext cx="4018200" cy="339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54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40"/>
              <a:buChar char="★"/>
            </a:pPr>
            <a:r>
              <a:rPr lang="en-GB" sz="1840">
                <a:solidFill>
                  <a:srgbClr val="9E9E9E"/>
                </a:solidFill>
              </a:rPr>
              <a:t>Customers with credit cards show lower churn</a:t>
            </a:r>
            <a:endParaRPr sz="1840">
              <a:solidFill>
                <a:srgbClr val="9E9E9E"/>
              </a:solidFill>
            </a:endParaRPr>
          </a:p>
          <a:p>
            <a:pPr indent="-3454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40"/>
              <a:buChar char="★"/>
            </a:pPr>
            <a:r>
              <a:rPr lang="en-GB" sz="1840">
                <a:solidFill>
                  <a:srgbClr val="9E9E9E"/>
                </a:solidFill>
              </a:rPr>
              <a:t>Credit cards act as an engagement and retention driver</a:t>
            </a:r>
            <a:endParaRPr sz="1840">
              <a:solidFill>
                <a:srgbClr val="9E9E9E"/>
              </a:solidFill>
            </a:endParaRPr>
          </a:p>
          <a:p>
            <a:pPr indent="-3454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40"/>
              <a:buChar char="★"/>
            </a:pPr>
            <a:r>
              <a:rPr lang="en-GB" sz="1840">
                <a:solidFill>
                  <a:srgbClr val="9E9E9E"/>
                </a:solidFill>
              </a:rPr>
              <a:t>Inactive customers are significantly more likely to churn</a:t>
            </a:r>
            <a:endParaRPr sz="1840">
              <a:solidFill>
                <a:srgbClr val="9E9E9E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0">
              <a:solidFill>
                <a:srgbClr val="9E9E9E"/>
              </a:solidFill>
            </a:endParaRPr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075" y="1743750"/>
            <a:ext cx="3314700" cy="22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ctrTitle"/>
          </p:nvPr>
        </p:nvSpPr>
        <p:spPr>
          <a:xfrm>
            <a:off x="311700" y="120850"/>
            <a:ext cx="8520600" cy="11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Regional Analysis: Churn &amp; Customer Engagement</a:t>
            </a:r>
            <a:endParaRPr b="1" sz="30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23"/>
          <p:cNvSpPr txBox="1"/>
          <p:nvPr>
            <p:ph idx="1" type="subTitle"/>
          </p:nvPr>
        </p:nvSpPr>
        <p:spPr>
          <a:xfrm>
            <a:off x="198500" y="1236250"/>
            <a:ext cx="5085300" cy="379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54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40"/>
              <a:buChar char="★"/>
            </a:pPr>
            <a:r>
              <a:rPr lang="en-GB" sz="1840">
                <a:solidFill>
                  <a:srgbClr val="9E9E9E"/>
                </a:solidFill>
              </a:rPr>
              <a:t>Customer behavior and expectations vary by location</a:t>
            </a:r>
            <a:endParaRPr sz="1840">
              <a:solidFill>
                <a:srgbClr val="9E9E9E"/>
              </a:solidFill>
            </a:endParaRPr>
          </a:p>
          <a:p>
            <a:pPr indent="-3454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40"/>
              <a:buChar char="★"/>
            </a:pPr>
            <a:r>
              <a:rPr lang="en-GB" sz="1840">
                <a:solidFill>
                  <a:srgbClr val="9E9E9E"/>
                </a:solidFill>
              </a:rPr>
              <a:t>Market competition differs across regions</a:t>
            </a:r>
            <a:endParaRPr sz="1840">
              <a:solidFill>
                <a:srgbClr val="9E9E9E"/>
              </a:solidFill>
            </a:endParaRPr>
          </a:p>
          <a:p>
            <a:pPr indent="-3454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40"/>
              <a:buChar char="★"/>
            </a:pPr>
            <a:r>
              <a:rPr lang="en-GB" sz="1840">
                <a:solidFill>
                  <a:srgbClr val="9E9E9E"/>
                </a:solidFill>
              </a:rPr>
              <a:t>A single retention strategy may not work uniformly</a:t>
            </a:r>
            <a:endParaRPr sz="1840">
              <a:solidFill>
                <a:srgbClr val="9E9E9E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0">
              <a:solidFill>
                <a:srgbClr val="9E9E9E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40">
                <a:solidFill>
                  <a:srgbClr val="9E9E9E"/>
                </a:solidFill>
              </a:rPr>
              <a:t>📌</a:t>
            </a:r>
            <a:r>
              <a:rPr lang="en-GB" sz="1840">
                <a:solidFill>
                  <a:srgbClr val="9E9E9E"/>
                </a:solidFill>
              </a:rPr>
              <a:t> Understanding regional churn helps prioritize targeted interventions.</a:t>
            </a:r>
            <a:endParaRPr sz="1840">
              <a:solidFill>
                <a:srgbClr val="9E9E9E"/>
              </a:solidFill>
            </a:endParaRPr>
          </a:p>
        </p:txBody>
      </p:sp>
      <p:pic>
        <p:nvPicPr>
          <p:cNvPr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6875" y="1881850"/>
            <a:ext cx="3333750" cy="233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ctrTitle"/>
          </p:nvPr>
        </p:nvSpPr>
        <p:spPr>
          <a:xfrm>
            <a:off x="311700" y="120850"/>
            <a:ext cx="8520600" cy="11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88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INACTIVE USER RE-ENGAGEMENT</a:t>
            </a:r>
            <a:endParaRPr b="1" sz="33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4"/>
          <p:cNvSpPr txBox="1"/>
          <p:nvPr>
            <p:ph idx="1" type="subTitle"/>
          </p:nvPr>
        </p:nvSpPr>
        <p:spPr>
          <a:xfrm>
            <a:off x="237950" y="1521950"/>
            <a:ext cx="5272800" cy="337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54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40"/>
              <a:buChar char="★"/>
            </a:pPr>
            <a:r>
              <a:rPr lang="en-GB" sz="1840">
                <a:solidFill>
                  <a:srgbClr val="9E9E9E"/>
                </a:solidFill>
              </a:rPr>
              <a:t>Certain regions exhibit consistently higher churn rates, indicating localized retention challenges.</a:t>
            </a:r>
            <a:endParaRPr sz="1840">
              <a:solidFill>
                <a:srgbClr val="9E9E9E"/>
              </a:solidFill>
            </a:endParaRPr>
          </a:p>
          <a:p>
            <a:pPr indent="-3454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40"/>
              <a:buChar char="★"/>
            </a:pPr>
            <a:r>
              <a:rPr lang="en-GB" sz="1840">
                <a:solidFill>
                  <a:srgbClr val="9E9E9E"/>
                </a:solidFill>
              </a:rPr>
              <a:t>Regions with a higher share of active customers tend to show lower churn.</a:t>
            </a:r>
            <a:endParaRPr sz="1840">
              <a:solidFill>
                <a:srgbClr val="9E9E9E"/>
              </a:solidFill>
            </a:endParaRPr>
          </a:p>
          <a:p>
            <a:pPr indent="-3454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40"/>
              <a:buChar char="★"/>
            </a:pPr>
            <a:r>
              <a:rPr lang="en-GB" sz="1840">
                <a:solidFill>
                  <a:srgbClr val="9E9E9E"/>
                </a:solidFill>
              </a:rPr>
              <a:t>Retention efforts should be region-specific, focusing on:</a:t>
            </a:r>
            <a:endParaRPr sz="1840">
              <a:solidFill>
                <a:srgbClr val="9E9E9E"/>
              </a:solidFill>
            </a:endParaRPr>
          </a:p>
          <a:p>
            <a:pPr indent="-34544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40"/>
              <a:buChar char="○"/>
            </a:pPr>
            <a:r>
              <a:rPr lang="en-GB" sz="1840">
                <a:solidFill>
                  <a:srgbClr val="9E9E9E"/>
                </a:solidFill>
              </a:rPr>
              <a:t>Improving engagement in high-churn regions</a:t>
            </a:r>
            <a:endParaRPr sz="1840">
              <a:solidFill>
                <a:srgbClr val="9E9E9E"/>
              </a:solidFill>
            </a:endParaRPr>
          </a:p>
          <a:p>
            <a:pPr indent="-34544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40"/>
              <a:buChar char="○"/>
            </a:pPr>
            <a:r>
              <a:rPr lang="en-GB" sz="1840">
                <a:solidFill>
                  <a:srgbClr val="9E9E9E"/>
                </a:solidFill>
              </a:rPr>
              <a:t>Promoting credit card adoption where churn risk is high</a:t>
            </a:r>
            <a:endParaRPr sz="1840">
              <a:solidFill>
                <a:srgbClr val="9E9E9E"/>
              </a:solidFill>
            </a:endParaRPr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8000" y="2037275"/>
            <a:ext cx="3695700" cy="21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ctrTitle"/>
          </p:nvPr>
        </p:nvSpPr>
        <p:spPr>
          <a:xfrm>
            <a:off x="311700" y="120850"/>
            <a:ext cx="8520600" cy="11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888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 KEY INSIGHTS SUMMARY</a:t>
            </a:r>
            <a:endParaRPr b="1" sz="33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25"/>
          <p:cNvSpPr txBox="1"/>
          <p:nvPr>
            <p:ph idx="1" type="subTitle"/>
          </p:nvPr>
        </p:nvSpPr>
        <p:spPr>
          <a:xfrm>
            <a:off x="237950" y="1521950"/>
            <a:ext cx="7719000" cy="32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040"/>
              <a:buChar char="❖"/>
            </a:pPr>
            <a:r>
              <a:rPr lang="en-GB" sz="2040">
                <a:solidFill>
                  <a:srgbClr val="9E9E9E"/>
                </a:solidFill>
              </a:rPr>
              <a:t>Churn is driven more by engagement than income</a:t>
            </a:r>
            <a:endParaRPr sz="2040">
              <a:solidFill>
                <a:srgbClr val="9E9E9E"/>
              </a:solidFill>
            </a:endParaRPr>
          </a:p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040"/>
              <a:buChar char="❖"/>
            </a:pPr>
            <a:r>
              <a:rPr lang="en-GB" sz="2040">
                <a:solidFill>
                  <a:srgbClr val="9E9E9E"/>
                </a:solidFill>
              </a:rPr>
              <a:t>Early lifecycle customers are the most vulnerable</a:t>
            </a:r>
            <a:endParaRPr sz="2040">
              <a:solidFill>
                <a:srgbClr val="9E9E9E"/>
              </a:solidFill>
            </a:endParaRPr>
          </a:p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040"/>
              <a:buChar char="❖"/>
            </a:pPr>
            <a:r>
              <a:rPr lang="en-GB" sz="2040">
                <a:solidFill>
                  <a:srgbClr val="9E9E9E"/>
                </a:solidFill>
              </a:rPr>
              <a:t>Multi-product and active customers are more loyal</a:t>
            </a:r>
            <a:endParaRPr sz="2040">
              <a:solidFill>
                <a:srgbClr val="9E9E9E"/>
              </a:solidFill>
            </a:endParaRPr>
          </a:p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040"/>
              <a:buChar char="❖"/>
            </a:pPr>
            <a:r>
              <a:rPr lang="en-GB" sz="2040">
                <a:solidFill>
                  <a:srgbClr val="9E9E9E"/>
                </a:solidFill>
              </a:rPr>
              <a:t>Credit card ownership improves retention</a:t>
            </a:r>
            <a:endParaRPr sz="2040">
              <a:solidFill>
                <a:srgbClr val="9E9E9E"/>
              </a:solidFill>
            </a:endParaRPr>
          </a:p>
          <a:p>
            <a:pPr indent="-35814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040"/>
              <a:buChar char="❖"/>
            </a:pPr>
            <a:r>
              <a:rPr lang="en-GB" sz="2040">
                <a:solidFill>
                  <a:srgbClr val="9E9E9E"/>
                </a:solidFill>
              </a:rPr>
              <a:t>Year-wise churn trends highlight acquisition quality issues</a:t>
            </a:r>
            <a:endParaRPr sz="2040"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ctrTitle"/>
          </p:nvPr>
        </p:nvSpPr>
        <p:spPr>
          <a:xfrm>
            <a:off x="311700" y="120850"/>
            <a:ext cx="8520600" cy="11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88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BUSINESS RECOMMENDATIONS</a:t>
            </a:r>
            <a:endParaRPr b="1" sz="335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6"/>
          <p:cNvSpPr txBox="1"/>
          <p:nvPr>
            <p:ph idx="1" type="subTitle"/>
          </p:nvPr>
        </p:nvSpPr>
        <p:spPr>
          <a:xfrm>
            <a:off x="311700" y="1512225"/>
            <a:ext cx="6936000" cy="323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814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040"/>
              <a:buChar char="○"/>
            </a:pPr>
            <a:r>
              <a:rPr lang="en-GB" sz="2040">
                <a:solidFill>
                  <a:srgbClr val="9E9E9E"/>
                </a:solidFill>
              </a:rPr>
              <a:t>Strengthen onboarding for new customers</a:t>
            </a:r>
            <a:endParaRPr sz="2040">
              <a:solidFill>
                <a:srgbClr val="9E9E9E"/>
              </a:solidFill>
            </a:endParaRPr>
          </a:p>
          <a:p>
            <a:pPr indent="-35814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040"/>
              <a:buChar char="○"/>
            </a:pPr>
            <a:r>
              <a:rPr lang="en-GB" sz="2040">
                <a:solidFill>
                  <a:srgbClr val="9E9E9E"/>
                </a:solidFill>
              </a:rPr>
              <a:t>Promote multi-product adoption</a:t>
            </a:r>
            <a:endParaRPr sz="2040">
              <a:solidFill>
                <a:srgbClr val="9E9E9E"/>
              </a:solidFill>
            </a:endParaRPr>
          </a:p>
          <a:p>
            <a:pPr indent="-35814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040"/>
              <a:buChar char="○"/>
            </a:pPr>
            <a:r>
              <a:rPr lang="en-GB" sz="2040">
                <a:solidFill>
                  <a:srgbClr val="9E9E9E"/>
                </a:solidFill>
              </a:rPr>
              <a:t>Actively monitor inactive customers</a:t>
            </a:r>
            <a:endParaRPr sz="2040">
              <a:solidFill>
                <a:srgbClr val="9E9E9E"/>
              </a:solidFill>
            </a:endParaRPr>
          </a:p>
          <a:p>
            <a:pPr indent="-35814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040"/>
              <a:buChar char="○"/>
            </a:pPr>
            <a:r>
              <a:rPr lang="en-GB" sz="2040">
                <a:solidFill>
                  <a:srgbClr val="9E9E9E"/>
                </a:solidFill>
              </a:rPr>
              <a:t>Expand credit card and reward programs</a:t>
            </a:r>
            <a:endParaRPr sz="2040">
              <a:solidFill>
                <a:srgbClr val="9E9E9E"/>
              </a:solidFill>
            </a:endParaRPr>
          </a:p>
          <a:p>
            <a:pPr indent="-35814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040"/>
              <a:buChar char="○"/>
            </a:pPr>
            <a:r>
              <a:rPr lang="en-GB" sz="2040">
                <a:solidFill>
                  <a:srgbClr val="9E9E9E"/>
                </a:solidFill>
              </a:rPr>
              <a:t>Use churn risk dashboards for proactive action</a:t>
            </a:r>
            <a:endParaRPr sz="2040"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ctrTitle"/>
          </p:nvPr>
        </p:nvSpPr>
        <p:spPr>
          <a:xfrm>
            <a:off x="311700" y="170025"/>
            <a:ext cx="8520600" cy="81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5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Core Challenges</a:t>
            </a:r>
            <a:endParaRPr b="1" sz="30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7"/>
          <p:cNvSpPr txBox="1"/>
          <p:nvPr>
            <p:ph idx="1" type="subTitle"/>
          </p:nvPr>
        </p:nvSpPr>
        <p:spPr>
          <a:xfrm>
            <a:off x="398100" y="950834"/>
            <a:ext cx="8347800" cy="391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417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20"/>
              <a:buChar char="❏"/>
            </a:pPr>
            <a:r>
              <a:rPr lang="en-GB" sz="1820">
                <a:solidFill>
                  <a:srgbClr val="9E9E9E"/>
                </a:solidFill>
              </a:rPr>
              <a:t>A significant portion of customers exit within the first few years, indicating gaps in onboarding and early engagement.</a:t>
            </a:r>
            <a:endParaRPr sz="1820">
              <a:solidFill>
                <a:srgbClr val="9E9E9E"/>
              </a:solidFill>
            </a:endParaRPr>
          </a:p>
          <a:p>
            <a:pPr indent="-34417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20"/>
              <a:buChar char="❏"/>
            </a:pPr>
            <a:r>
              <a:rPr lang="en-GB" sz="1820">
                <a:solidFill>
                  <a:srgbClr val="9E9E9E"/>
                </a:solidFill>
              </a:rPr>
              <a:t>Customers with only one banking product show a much higher tendency to churn, reflecting weak customer dependency.</a:t>
            </a:r>
            <a:endParaRPr sz="1820">
              <a:solidFill>
                <a:srgbClr val="9E9E9E"/>
              </a:solidFill>
            </a:endParaRPr>
          </a:p>
          <a:p>
            <a:pPr indent="-34417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20"/>
              <a:buChar char="❏"/>
            </a:pPr>
            <a:r>
              <a:rPr lang="en-GB" sz="1820">
                <a:solidFill>
                  <a:srgbClr val="9E9E9E"/>
                </a:solidFill>
              </a:rPr>
              <a:t>Inactivity is a strong precursor to churn, highlighting the lack of timely re-engagement mechanisms.</a:t>
            </a:r>
            <a:endParaRPr sz="1820">
              <a:solidFill>
                <a:srgbClr val="9E9E9E"/>
              </a:solidFill>
            </a:endParaRPr>
          </a:p>
          <a:p>
            <a:pPr indent="-34417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20"/>
              <a:buChar char="❏"/>
            </a:pPr>
            <a:r>
              <a:rPr lang="en-GB" sz="1820">
                <a:solidFill>
                  <a:srgbClr val="9E9E9E"/>
                </a:solidFill>
              </a:rPr>
              <a:t>Churn rates vary across geographies, suggesting that uniform retention strategies are not effective.</a:t>
            </a:r>
            <a:endParaRPr sz="1820">
              <a:solidFill>
                <a:srgbClr val="9E9E9E"/>
              </a:solidFill>
            </a:endParaRPr>
          </a:p>
          <a:p>
            <a:pPr indent="-34417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20"/>
              <a:buChar char="❏"/>
            </a:pPr>
            <a:r>
              <a:rPr lang="en-GB" sz="1820">
                <a:solidFill>
                  <a:srgbClr val="9E9E9E"/>
                </a:solidFill>
              </a:rPr>
              <a:t>Absence of campaign interaction and transactional behavior data restricts proactive churn prediction.</a:t>
            </a:r>
            <a:endParaRPr sz="1820"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ctrTitle"/>
          </p:nvPr>
        </p:nvSpPr>
        <p:spPr>
          <a:xfrm>
            <a:off x="311700" y="170025"/>
            <a:ext cx="8520600" cy="81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5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Summary of Findings</a:t>
            </a:r>
            <a:endParaRPr b="1" sz="35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8"/>
          <p:cNvSpPr txBox="1"/>
          <p:nvPr>
            <p:ph idx="1" type="subTitle"/>
          </p:nvPr>
        </p:nvSpPr>
        <p:spPr>
          <a:xfrm>
            <a:off x="398100" y="950834"/>
            <a:ext cx="8347800" cy="391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417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20"/>
              <a:buChar char="❏"/>
            </a:pPr>
            <a:r>
              <a:rPr lang="en-GB" sz="1820">
                <a:solidFill>
                  <a:srgbClr val="9E9E9E"/>
                </a:solidFill>
              </a:rPr>
              <a:t>Customers with higher tenure, multiple products, and active status show significantly lower churn rates.</a:t>
            </a:r>
            <a:endParaRPr sz="1820">
              <a:solidFill>
                <a:srgbClr val="9E9E9E"/>
              </a:solidFill>
            </a:endParaRPr>
          </a:p>
          <a:p>
            <a:pPr indent="-34417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20"/>
              <a:buChar char="❏"/>
            </a:pPr>
            <a:r>
              <a:rPr lang="en-GB" sz="1820">
                <a:solidFill>
                  <a:srgbClr val="9E9E9E"/>
                </a:solidFill>
              </a:rPr>
              <a:t>Churn is highest among customers with short tenure, indicating the need for stronger onboarding and early engagement strategies.</a:t>
            </a:r>
            <a:endParaRPr sz="1820">
              <a:solidFill>
                <a:srgbClr val="9E9E9E"/>
              </a:solidFill>
            </a:endParaRPr>
          </a:p>
          <a:p>
            <a:pPr indent="-34417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20"/>
              <a:buChar char="❏"/>
            </a:pPr>
            <a:r>
              <a:rPr lang="en-GB" sz="1820">
                <a:solidFill>
                  <a:srgbClr val="9E9E9E"/>
                </a:solidFill>
              </a:rPr>
              <a:t>Customers holding more than one product are more loyal, while single-product customers are at the highest risk of churn.</a:t>
            </a:r>
            <a:endParaRPr sz="1820">
              <a:solidFill>
                <a:srgbClr val="9E9E9E"/>
              </a:solidFill>
            </a:endParaRPr>
          </a:p>
          <a:p>
            <a:pPr indent="-34417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20"/>
              <a:buChar char="❏"/>
            </a:pPr>
            <a:r>
              <a:rPr lang="en-GB" sz="1820">
                <a:solidFill>
                  <a:srgbClr val="9E9E9E"/>
                </a:solidFill>
              </a:rPr>
              <a:t>Inactivity consistently appears as a leading indicator of customer exit across all segments.</a:t>
            </a:r>
            <a:endParaRPr sz="1820">
              <a:solidFill>
                <a:srgbClr val="9E9E9E"/>
              </a:solidFill>
            </a:endParaRPr>
          </a:p>
          <a:p>
            <a:pPr indent="-34417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20"/>
              <a:buChar char="❏"/>
            </a:pPr>
            <a:r>
              <a:rPr lang="en-GB" sz="1820">
                <a:solidFill>
                  <a:srgbClr val="9E9E9E"/>
                </a:solidFill>
              </a:rPr>
              <a:t>Certain regions exhibit higher churn, suggesting that retention strategies must be tailored geographically.</a:t>
            </a:r>
            <a:endParaRPr sz="1820">
              <a:solidFill>
                <a:srgbClr val="9E9E9E"/>
              </a:solidFill>
            </a:endParaRPr>
          </a:p>
          <a:p>
            <a:pPr indent="-34417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20"/>
              <a:buChar char="❏"/>
            </a:pPr>
            <a:r>
              <a:rPr lang="en-GB" sz="1820">
                <a:solidFill>
                  <a:srgbClr val="9E9E9E"/>
                </a:solidFill>
              </a:rPr>
              <a:t>Customers with credit cards demonstrate lower churn, indicating that credit card benefits and rewards enhance customer stickiness.</a:t>
            </a:r>
            <a:endParaRPr sz="1820"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ctrTitle"/>
          </p:nvPr>
        </p:nvSpPr>
        <p:spPr>
          <a:xfrm>
            <a:off x="311700" y="120850"/>
            <a:ext cx="8520600" cy="11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88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b="1" sz="335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9"/>
          <p:cNvSpPr txBox="1"/>
          <p:nvPr>
            <p:ph idx="1" type="subTitle"/>
          </p:nvPr>
        </p:nvSpPr>
        <p:spPr>
          <a:xfrm>
            <a:off x="311700" y="1008050"/>
            <a:ext cx="8709300" cy="40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54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40"/>
              <a:buChar char="★"/>
            </a:pPr>
            <a:r>
              <a:rPr lang="en-GB" sz="1840">
                <a:solidFill>
                  <a:srgbClr val="9E9E9E"/>
                </a:solidFill>
              </a:rPr>
              <a:t>This project successfully analyzed customer churn behavior using a structured, data-driven approach combining SQL analysis and Power BI visualization.</a:t>
            </a:r>
            <a:endParaRPr sz="1840">
              <a:solidFill>
                <a:srgbClr val="9E9E9E"/>
              </a:solidFill>
            </a:endParaRPr>
          </a:p>
          <a:p>
            <a:pPr indent="-3454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40"/>
              <a:buChar char="★"/>
            </a:pPr>
            <a:r>
              <a:rPr lang="en-GB" sz="1840">
                <a:solidFill>
                  <a:srgbClr val="9E9E9E"/>
                </a:solidFill>
              </a:rPr>
              <a:t>The analysis revealed that customer engagement factors—such as tenure, activity status, and number of products—play a far more significant role in churn than demographic attributes alone.</a:t>
            </a:r>
            <a:endParaRPr sz="1840">
              <a:solidFill>
                <a:srgbClr val="9E9E9E"/>
              </a:solidFill>
            </a:endParaRPr>
          </a:p>
          <a:p>
            <a:pPr indent="-3454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40"/>
              <a:buChar char="★"/>
            </a:pPr>
            <a:r>
              <a:rPr lang="en-GB" sz="1840">
                <a:solidFill>
                  <a:srgbClr val="9E9E9E"/>
                </a:solidFill>
              </a:rPr>
              <a:t>Early-stage customers, inactive users, and single-product holders were identified as the most churn-prone segments.</a:t>
            </a:r>
            <a:endParaRPr sz="1840">
              <a:solidFill>
                <a:srgbClr val="9E9E9E"/>
              </a:solidFill>
            </a:endParaRPr>
          </a:p>
          <a:p>
            <a:pPr indent="-3454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40"/>
              <a:buChar char="★"/>
            </a:pPr>
            <a:r>
              <a:rPr lang="en-GB" sz="1840">
                <a:solidFill>
                  <a:srgbClr val="9E9E9E"/>
                </a:solidFill>
              </a:rPr>
              <a:t>Regional variations in churn highlight the need for localized retention strategies rather than a uniform approach.</a:t>
            </a:r>
            <a:endParaRPr sz="1840">
              <a:solidFill>
                <a:srgbClr val="9E9E9E"/>
              </a:solidFill>
            </a:endParaRPr>
          </a:p>
          <a:p>
            <a:pPr indent="-3454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40"/>
              <a:buChar char="★"/>
            </a:pPr>
            <a:r>
              <a:rPr lang="en-GB" sz="1840">
                <a:solidFill>
                  <a:srgbClr val="9E9E9E"/>
                </a:solidFill>
              </a:rPr>
              <a:t>Credit card ownership was observed to have a positive impact on customer retention, indicating the importance of value-added services and rewards.</a:t>
            </a:r>
            <a:endParaRPr sz="1840"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Thankyou </a:t>
            </a:r>
            <a:endParaRPr b="1" sz="50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